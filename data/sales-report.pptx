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502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502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8C96B4"/>
                </a:solidFill>
                <a:latin typeface="Consolas"/>
                <a:ea typeface="맑은 고딕"/>
              </a:rPr>
              <a:t>BRIGHTBEED  ·  DAILY OPS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1">
                <a:solidFill>
                  <a:srgbClr val="E6EAF5"/>
                </a:solidFill>
                <a:latin typeface="Malgun Gothic"/>
                <a:ea typeface="맑은 고딕"/>
              </a:rPr>
              <a:t>일일 판매 · 리오더 브리프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8C96B4"/>
                </a:solidFill>
                <a:latin typeface="Malgun Gothic"/>
                <a:ea typeface="맑은 고딕"/>
              </a:rPr>
              <a:t>운송장 미출력(실시간 결제완료) 기준 · 6A · CT · 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37560"/>
            <a:ext cx="2194560" cy="548640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6EAF5"/>
                </a:solidFill>
                <a:latin typeface="Consolas"/>
                <a:ea typeface="맑은 고딕"/>
              </a:rPr>
              <a:t>2026-05-10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8C96B4"/>
                </a:solidFill>
                <a:latin typeface="Malgun Gothic"/>
                <a:ea typeface="맑은 고딕"/>
              </a:rPr>
              <a:t>오전 09시 정시 자동 생성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60520"/>
            <a:ext cx="8229600" cy="960120"/>
          </a:xfrm>
          <a:prstGeom prst="roundRect">
            <a:avLst>
              <a:gd name="adj" fmla="val 15000"/>
            </a:avLst>
          </a:prstGeom>
          <a:solidFill>
            <a:srgbClr val="141A33"/>
          </a:solidFill>
          <a:ln w="1587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160520"/>
            <a:ext cx="54864" cy="96012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2452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4D6D"/>
                </a:solidFill>
                <a:latin typeface="Malgun Gothic"/>
                <a:ea typeface="맑은 고딕"/>
              </a:rPr>
              <a:t>동기화 미완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44568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C96B4"/>
                </a:solidFill>
                <a:latin typeface="Malgun Gothic"/>
                <a:ea typeface="맑은 고딕"/>
              </a:rPr>
              <a:t>동기화 미완 — 직전 동기화: 2026-05-10 00:30 · 시트 J1 기준 · 약 8시간 전 데이터로 진행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A6482"/>
                </a:solidFill>
                <a:latin typeface="Consolas"/>
                <a:ea typeface="맑은 고딕"/>
              </a:rPr>
              <a:t>(주)브라이트비드 · 내부 사용 전용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A6482"/>
                </a:solidFill>
                <a:latin typeface="Consolas"/>
                <a:ea typeface="맑은 고딕"/>
              </a:rPr>
              <a:t>v0.9 · 자동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E6EAF5"/>
                </a:solidFill>
                <a:latin typeface="Malgun Gothic"/>
                <a:ea typeface="맑은 고딕"/>
              </a:rPr>
              <a:t>일일 대시보드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8C96B4"/>
                </a:solidFill>
                <a:latin typeface="Consolas"/>
                <a:ea typeface="맑은 고딕"/>
              </a:rPr>
              <a:t>2026-05-10 · 운송장 미출력 기준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" cy="1691640"/>
          </a:xfrm>
          <a:prstGeom prst="rect">
            <a:avLst/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81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총 주문 수량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6EAF5"/>
                </a:solidFill>
                <a:latin typeface="Consolas"/>
                <a:ea typeface="맑은 고딕"/>
              </a:rPr>
              <a:t>1,677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24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Malgun Gothic"/>
                <a:ea typeface="맑은 고딕"/>
              </a:rPr>
              <a:t>전 브랜드 합산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41732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54864" cy="1691640"/>
          </a:xfrm>
          <a:prstGeom prst="rect">
            <a:avLst/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581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활성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6EAF5"/>
                </a:solidFill>
                <a:latin typeface="Consolas"/>
                <a:ea typeface="맑은 고딕"/>
              </a:rPr>
              <a:t>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724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Malgun Gothic"/>
                <a:ea typeface="맑은 고딕"/>
              </a:rPr>
              <a:t>재고 보유 SKU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41732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0" y="1417320"/>
            <a:ext cx="54864" cy="16916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581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긴급 리오더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6EAF5"/>
                </a:solidFill>
                <a:latin typeface="Consolas"/>
                <a:ea typeface="맑은 고딕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2724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Malgun Gothic"/>
                <a:ea typeface="맑은 고딕"/>
              </a:rPr>
              <a:t>커버 10일 미만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141732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41080" y="1417320"/>
            <a:ext cx="54864" cy="1691640"/>
          </a:xfrm>
          <a:prstGeom prst="rect">
            <a:avLst/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248" y="1581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베스트 브랜드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6EAF5"/>
                </a:solidFill>
                <a:latin typeface="Consolas"/>
                <a:ea typeface="맑은 고딕"/>
              </a:rPr>
              <a:t>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248" y="2724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Malgun Gothic"/>
                <a:ea typeface="맑은 고딕"/>
              </a:rPr>
              <a:t>판매 935 / 1,677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3337560"/>
            <a:ext cx="4599432" cy="324612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 w="19050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337560"/>
            <a:ext cx="54864" cy="324612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6912" y="3538728"/>
            <a:ext cx="4142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4D6D"/>
                </a:solidFill>
                <a:latin typeface="Consolas"/>
                <a:ea typeface="맑은 고딕"/>
              </a:rPr>
              <a:t>1순위 긴급 SKU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40480"/>
            <a:ext cx="4142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B153"/>
                </a:solidFill>
                <a:latin typeface="Consolas"/>
                <a:ea typeface="맑은 고딕"/>
              </a:rPr>
              <a:t>6A · 즉시 발주 권장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6912" y="4251960"/>
            <a:ext cx="41422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6EAF5"/>
                </a:solidFill>
                <a:latin typeface="Malgun Gothic"/>
                <a:ea typeface="맑은 고딕"/>
              </a:rPr>
              <a:t>[SILVER925] CH.alban Open 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349240"/>
            <a:ext cx="1258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판매수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5641848"/>
            <a:ext cx="12588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4D6D"/>
                </a:solidFill>
                <a:latin typeface="Consolas"/>
                <a:ea typeface="맑은 고딕"/>
              </a:rPr>
              <a:t>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5464" y="5349240"/>
            <a:ext cx="1258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5464" y="5641848"/>
            <a:ext cx="12588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4D6D"/>
                </a:solidFill>
                <a:latin typeface="Consolas"/>
                <a:ea typeface="맑은 고딕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5728" y="5349240"/>
            <a:ext cx="12588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커버일수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5728" y="5641848"/>
            <a:ext cx="12588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4D6D"/>
                </a:solidFill>
                <a:latin typeface="Consolas"/>
                <a:ea typeface="맑은 고딕"/>
              </a:rPr>
              <a:t>0.15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3375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6EAF5"/>
                </a:solidFill>
                <a:latin typeface="Malgun Gothic"/>
                <a:ea typeface="맑은 고딕"/>
              </a:rPr>
              <a:t>함께 보기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703320"/>
            <a:ext cx="6400800" cy="86868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703320"/>
            <a:ext cx="54864" cy="868680"/>
          </a:xfrm>
          <a:prstGeom prst="rect">
            <a:avLst/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22192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PP 옵션 SKU 최긴급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4096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EAF5"/>
                </a:solidFill>
                <a:latin typeface="Malgun Gothic"/>
                <a:ea typeface="맑은 고딕"/>
              </a:rPr>
              <a:t>180° Cable · 블루 / USB→C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0" y="397764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C97FFF"/>
                </a:solidFill>
                <a:latin typeface="Consolas"/>
                <a:ea typeface="맑은 고딕"/>
              </a:rPr>
              <a:t>12 · 10 · 0.83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663440"/>
            <a:ext cx="6400800" cy="86868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4663440"/>
            <a:ext cx="54864" cy="868680"/>
          </a:xfrm>
          <a:prstGeom prst="rect">
            <a:avLst/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782312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CT 베스트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05663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EAF5"/>
                </a:solidFill>
                <a:latin typeface="Malgun Gothic"/>
                <a:ea typeface="맑은 고딕"/>
              </a:rPr>
              <a:t>ThreadDuo Necklace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93776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3CE5C7"/>
                </a:solidFill>
                <a:latin typeface="Consolas"/>
                <a:ea typeface="맑은 고딕"/>
              </a:rPr>
              <a:t>54 · 905 · 16.8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5623560"/>
            <a:ext cx="6400800" cy="86868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623560"/>
            <a:ext cx="54864" cy="868680"/>
          </a:xfrm>
          <a:prstGeom prst="rect">
            <a:avLst/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742432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6A ★Best★ (재고 무제한)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601675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EAF5"/>
                </a:solidFill>
                <a:latin typeface="Malgun Gothic"/>
                <a:ea typeface="맑은 고딕"/>
              </a:rPr>
              <a:t>Guyeong Open Ring v3.0 (silver)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589788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FFB153"/>
                </a:solidFill>
                <a:latin typeface="Consolas"/>
                <a:ea typeface="맑은 고딕"/>
              </a:rPr>
              <a:t>77 / 무제한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E6EAF5"/>
                </a:solidFill>
                <a:latin typeface="Malgun Gothic"/>
                <a:ea typeface="맑은 고딕"/>
              </a:rPr>
              <a:t>6A · 베스트셀러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8C96B4"/>
                </a:solidFill>
                <a:latin typeface="Consolas"/>
                <a:ea typeface="맑은 고딕"/>
              </a:rPr>
              <a:t>실시간 결제완료 기준 · 총 583건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1592" y="502920"/>
            <a:ext cx="1188720" cy="502920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51592" y="502920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6A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08760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[SILVER925] Guyeong Open Ring v3.0 (silver)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60020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0" y="160020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1508760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508760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B153"/>
                </a:solidFill>
                <a:latin typeface="Consolas"/>
                <a:ea typeface="맑은 고딕"/>
              </a:rPr>
              <a:t>★Best★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75104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75104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[SILVER925] CH.alban Open 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066544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2066544"/>
            <a:ext cx="4481747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9800" y="1975104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1975104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4144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441448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[SILVER925] Eramam Open 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2532888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0" y="2532888"/>
            <a:ext cx="2059181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800" y="2441448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441448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B153"/>
                </a:solidFill>
                <a:latin typeface="Consolas"/>
                <a:ea typeface="맑은 고딕"/>
              </a:rPr>
              <a:t>★Best★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907792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2907792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Marquise Necklace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99232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0" y="2999232"/>
            <a:ext cx="1998617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2907792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2907792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374136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[SILVER925] Starly Open Ring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0" y="3465576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0" y="3465576"/>
            <a:ext cx="1453539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3374136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374136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B153"/>
                </a:solidFill>
                <a:latin typeface="Consolas"/>
                <a:ea typeface="맑은 고딕"/>
              </a:rPr>
              <a:t>★Best★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3840480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RichardKokser Necklace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393192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0" y="3931920"/>
            <a:ext cx="1392975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3840480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3840480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306824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4306824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[SILVER925] Geos Open Ring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0" y="4398264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0" y="4398264"/>
            <a:ext cx="1332411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306824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4306824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77316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4773168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YOKNIS 9921 Necklace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0" y="4864608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29200" y="4864608"/>
            <a:ext cx="1090154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29800" y="4773168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18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4773168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B153"/>
                </a:solidFill>
                <a:latin typeface="Consolas"/>
                <a:ea typeface="맑은 고딕"/>
              </a:rPr>
              <a:t>★Best★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239512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5239512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[SILVER925] Cstic Open Ring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0" y="5330952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29200" y="5330952"/>
            <a:ext cx="1090154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29800" y="5239512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239512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B153"/>
                </a:solidFill>
                <a:latin typeface="Consolas"/>
                <a:ea typeface="맑은 고딕"/>
              </a:rPr>
              <a:t>★Best★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705856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" y="5705856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[SILVER925] Mustafakemalpaşa Ring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0" y="5797296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29200" y="5797296"/>
            <a:ext cx="1090154" cy="237744"/>
          </a:xfrm>
          <a:prstGeom prst="roundRect">
            <a:avLst>
              <a:gd name="adj" fmla="val 40000"/>
            </a:avLst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29800" y="5705856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5705856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541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565392"/>
            <a:ext cx="11091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A6482"/>
                </a:solidFill>
                <a:latin typeface="Malgun Gothic"/>
                <a:ea typeface="맑은 고딕"/>
              </a:rPr>
              <a:t>막대 = 실시간 결제완료 수량 · ★Best★ 표기는 정상재고 별도 확인 필요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E6EAF5"/>
                </a:solidFill>
                <a:latin typeface="Malgun Gothic"/>
                <a:ea typeface="맑은 고딕"/>
              </a:rPr>
              <a:t>6A · 리오더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8C96B4"/>
                </a:solidFill>
                <a:latin typeface="Consolas"/>
                <a:ea typeface="맑은 고딕"/>
              </a:rPr>
              <a:t>커버일수 오름차순 · ★Best★(무제한) 제외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1592" y="502920"/>
            <a:ext cx="1188720" cy="502920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51592" y="502920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B153"/>
                </a:solidFill>
                <a:latin typeface="Consolas"/>
                <a:ea typeface="맑은 고딕"/>
              </a:rPr>
              <a:t>6A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0876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15087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[SILVER925] CH.alban Open 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150876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88152" y="166420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9831" y="15087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15087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7191" y="15087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0.1일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51591" y="162763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51591" y="16276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01168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01168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201168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20116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[SILVER925] Ribbed Open 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6592" y="201168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88152" y="216712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88152" y="2167128"/>
            <a:ext cx="106847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99831" y="20116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22791" y="2011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1" y="2011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1.7일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51591" y="213055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51591" y="21305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51460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251460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25146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25146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[SILVER925] Geos Open 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6592" y="251460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88152" y="267004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88152" y="2670048"/>
            <a:ext cx="156209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99831" y="25146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22791" y="25146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37191" y="25146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2.5일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51591" y="263347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1591" y="263347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0175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01752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30175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" y="30175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Two-ball Bangle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36592" y="301752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88152" y="317296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88152" y="3172968"/>
            <a:ext cx="162458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99831" y="30175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2791" y="3017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37191" y="3017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2.6일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51591" y="313639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51591" y="313639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352044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352044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35204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4712" y="35204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Marquise Necklace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352044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88152" y="367588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788152" y="3675888"/>
            <a:ext cx="163083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99831" y="35204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22791" y="35204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7191" y="35204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2.6일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51591" y="363931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51591" y="36393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8640" y="402336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8640" y="402336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402336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24712" y="40233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RichardKokser Necklace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36592" y="402336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788152" y="417880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788152" y="4178808"/>
            <a:ext cx="203697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99831" y="40233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22791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75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37191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3.3일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51591" y="414223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51591" y="41422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8640" y="452628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48640" y="452628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452628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4712" y="45262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B-Flower Necklace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36592" y="452628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2옵션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788152" y="468172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788152" y="4681728"/>
            <a:ext cx="218693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99831" y="45262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22791" y="45262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37191" y="45262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3.5일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451591" y="464515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51591" y="46451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48640" y="502920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8640" y="502920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13232" y="50292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24712" y="50292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Safety Pin Necklace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36592" y="502920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788152" y="518464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5788152" y="5184648"/>
            <a:ext cx="362407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799831" y="50292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22791" y="50292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29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37191" y="50292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5.8일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451591" y="514807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451591" y="514807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48640" y="55321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48640" y="553212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13232" y="55321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24712" y="55321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2PT Bracelet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736592" y="553212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788152" y="568756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788152" y="5687568"/>
            <a:ext cx="520491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99831" y="55321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622791" y="55321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25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537191" y="55321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8.3일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451591" y="565099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451591" y="565099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48640" y="603504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8640" y="603504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3232" y="6035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24712" y="60350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Hollowstar Necklace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36592" y="6035040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/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788152" y="6190488"/>
            <a:ext cx="1874519" cy="146304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5788152" y="6190488"/>
            <a:ext cx="541735" cy="146304"/>
          </a:xfrm>
          <a:prstGeom prst="roundRect">
            <a:avLst>
              <a:gd name="adj" fmla="val 40000"/>
            </a:avLst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99831" y="60350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판매 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22791" y="6035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재고 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37191" y="6035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8.7일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451591" y="6153912"/>
            <a:ext cx="73152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451591" y="61539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48640" y="6565392"/>
            <a:ext cx="11091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A6482"/>
                </a:solidFill>
                <a:latin typeface="Malgun Gothic"/>
                <a:ea typeface="맑은 고딕"/>
              </a:rPr>
              <a:t>커버일수 = 남은재고 ÷ 실시간 결제완료 · 임계: &lt;10일 긴급, 10~30일 주의, 30일+ 안전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E6EAF5"/>
                </a:solidFill>
                <a:latin typeface="Malgun Gothic"/>
                <a:ea typeface="맑은 고딕"/>
              </a:rPr>
              <a:t>CT · 베스트셀러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8C96B4"/>
                </a:solidFill>
                <a:latin typeface="Consolas"/>
                <a:ea typeface="맑은 고딕"/>
              </a:rPr>
              <a:t>실시간 결제완료 기준 · 총 159건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1592" y="502920"/>
            <a:ext cx="1188720" cy="502920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51592" y="502920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08760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ThreadDuo Necklace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60020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0" y="160020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1508760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508760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905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75104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75104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CandyPOP Necklace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066544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2066544"/>
            <a:ext cx="259080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9800" y="1975104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1975104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578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4144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441448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"Naantali" 925 Open 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2532888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0" y="2532888"/>
            <a:ext cx="138176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800" y="2441448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441448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907792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2907792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"Reine" 925 Open 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99232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0" y="2999232"/>
            <a:ext cx="94996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2907792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2907792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317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374136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"SSStar" 925 Open Ring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0" y="3465576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0" y="3465576"/>
            <a:ext cx="51816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3374136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374136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3840480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"CordessurCiel" 925 Open Ring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393192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0" y="3931920"/>
            <a:ext cx="43180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3840480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3840480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306824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4306824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"Linkrace" 925 Open Ring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0" y="4398264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0" y="4398264"/>
            <a:ext cx="34544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306824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4306824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77316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4773168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"Kalpa" 925 Open Ring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0" y="4864608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29200" y="4864608"/>
            <a:ext cx="25908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29800" y="4773168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4773168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194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239512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5239512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Sunburst Necklace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0" y="5330952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29200" y="5330952"/>
            <a:ext cx="25908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29800" y="5239512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239512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97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705856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" y="5705856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"Loopind" 925 Open Ring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0" y="5797296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29200" y="5797296"/>
            <a:ext cx="259080" cy="237744"/>
          </a:xfrm>
          <a:prstGeom prst="roundRect">
            <a:avLst>
              <a:gd name="adj" fmla="val 40000"/>
            </a:avLst>
          </a:prstGeom>
          <a:solidFill>
            <a:srgbClr val="3CE5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29800" y="5705856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3CE5C7"/>
                </a:solidFill>
                <a:latin typeface="Consolas"/>
                <a:ea typeface="맑은 고딕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5705856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565392"/>
            <a:ext cx="11091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A6482"/>
                </a:solidFill>
                <a:latin typeface="Malgun Gothic"/>
                <a:ea typeface="맑은 고딕"/>
              </a:rPr>
              <a:t>막대 = 실시간 결제완료 수량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E6EAF5"/>
                </a:solidFill>
                <a:latin typeface="Malgun Gothic"/>
                <a:ea typeface="맑은 고딕"/>
              </a:rPr>
              <a:t>PP · 옵션 단위 베스트 SKU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8C96B4"/>
                </a:solidFill>
                <a:latin typeface="Consolas"/>
                <a:ea typeface="맑은 고딕"/>
              </a:rPr>
              <a:t>180° Cable · 색상 × 기종 옵션별 판매량 (식스샵+SS 합산)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1592" y="502920"/>
            <a:ext cx="1188720" cy="502920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51592" y="502920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08760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블루 / C→C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60020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0" y="160020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1508760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118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508760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396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75104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75104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퍼플 / C→C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066544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2066544"/>
            <a:ext cx="4110150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9800" y="1975104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104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1975104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3106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4144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441448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네온핑크 / C→C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2532888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0" y="2532888"/>
            <a:ext cx="3043092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800" y="2441448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441448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1182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907792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2907792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피치 / C→C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2999232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0" y="2999232"/>
            <a:ext cx="2647885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2907792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2907792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2188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374136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오렌지 / C→C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0" y="3465576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0" y="3465576"/>
            <a:ext cx="2410761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3374136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374136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421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3840480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네온핑크 / USB→C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3931920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0" y="3931920"/>
            <a:ext cx="1896992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3840480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3840480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2440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306824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4306824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네온그린 / C→C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0" y="4398264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0" y="4398264"/>
            <a:ext cx="1896992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306824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48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4306824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587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77316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4773168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피치 / USB→C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0" y="4864608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29200" y="4864608"/>
            <a:ext cx="1857471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29800" y="4773168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4773168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333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239512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 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5239512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옐로우 / USB→C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0" y="5330952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29200" y="5330952"/>
            <a:ext cx="1857471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29800" y="5239512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239512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159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705856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5A6482"/>
                </a:solidFill>
                <a:latin typeface="Consolas"/>
                <a:ea typeface="맑은 고딕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" y="5705856"/>
            <a:ext cx="3840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E6EAF5"/>
                </a:solidFill>
                <a:latin typeface="Malgun Gothic"/>
                <a:ea typeface="맑은 고딕"/>
              </a:rPr>
              <a:t>네온그린 / USB→C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0" y="5797296"/>
            <a:ext cx="4663440" cy="237744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29200" y="5797296"/>
            <a:ext cx="1501785" cy="237744"/>
          </a:xfrm>
          <a:prstGeom prst="roundRect">
            <a:avLst>
              <a:gd name="adj" fmla="val 40000"/>
            </a:avLst>
          </a:prstGeom>
          <a:solidFill>
            <a:srgbClr val="C97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29800" y="5705856"/>
            <a:ext cx="594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5705856"/>
            <a:ext cx="1124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재고 1121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565392"/>
            <a:ext cx="11091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A6482"/>
                </a:solidFill>
                <a:latin typeface="Malgun Gothic"/>
                <a:ea typeface="맑은 고딕"/>
              </a:rPr>
              <a:t>전체 베스트 SKU 10건 모두 180° Fast Charging Cable (8color) — 색상×기종 옵션 단위 합산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E6EAF5"/>
                </a:solidFill>
                <a:latin typeface="Malgun Gothic"/>
                <a:ea typeface="맑은 고딕"/>
              </a:rPr>
              <a:t>PP · 리오더 + 오늘의 액션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8C96B4"/>
                </a:solidFill>
                <a:latin typeface="Consolas"/>
                <a:ea typeface="맑은 고딕"/>
              </a:rPr>
              <a:t>옵션 단위 SKU 우선순위 · 즉시 실행 항목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51592" y="502920"/>
            <a:ext cx="1188720" cy="502920"/>
          </a:xfrm>
          <a:prstGeom prst="roundRect">
            <a:avLst>
              <a:gd name="adj" fmla="val 4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51592" y="502920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97FFF"/>
                </a:solidFill>
                <a:latin typeface="Consolas"/>
                <a:ea typeface="맑은 고딕"/>
              </a:rPr>
              <a:t>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087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1508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블루 / USB→C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150876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180° Cable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5087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12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05272" y="150876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6D"/>
                </a:solidFill>
                <a:latin typeface="Consolas"/>
                <a:ea typeface="맑은 고딕"/>
              </a:rPr>
              <a:t>0.8일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162763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2763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01168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01168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0116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" y="2011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블루 / C→C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20116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180° Cable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0116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118 / 396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5272" y="201168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6D"/>
                </a:solidFill>
                <a:latin typeface="Consolas"/>
                <a:ea typeface="맑은 고딕"/>
              </a:rPr>
              <a:t>3.4일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28232" y="213055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213055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51460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51460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25146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옐로우 / USB→C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82112" y="2514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180° Cable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51460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47 / 159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05272" y="251460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6D"/>
                </a:solidFill>
                <a:latin typeface="Consolas"/>
                <a:ea typeface="맑은 고딕"/>
              </a:rPr>
              <a:t>3.4일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8232" y="263347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8232" y="263347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01752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301752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01752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오렌지 / C→C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30175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180° Cable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0175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61 / 421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05272" y="301752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6D"/>
                </a:solidFill>
                <a:latin typeface="Consolas"/>
                <a:ea typeface="맑은 고딕"/>
              </a:rPr>
              <a:t>6.9일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28232" y="313639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3639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352044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52044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352044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" y="35204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퍼플 / 8pin / 2m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2112" y="352044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Jacquard Cable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53712" y="352044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5 / 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05272" y="352044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6D"/>
                </a:solidFill>
                <a:latin typeface="Consolas"/>
                <a:ea typeface="맑은 고딕"/>
              </a:rPr>
              <a:t>7.0일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28232" y="363931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28232" y="363931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02336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402336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" y="40233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" y="40233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피치 / USB→C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402336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180° Cable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53712" y="40233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47 / 333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05272" y="402336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6D"/>
                </a:solidFill>
                <a:latin typeface="Consolas"/>
                <a:ea typeface="맑은 고딕"/>
              </a:rPr>
              <a:t>7.1일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28232" y="414223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14223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52628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452628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" y="45262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스카이블루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2112" y="4526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Cloud Grip Brush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53712" y="4526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3 / 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05272" y="452628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6D"/>
                </a:solidFill>
                <a:latin typeface="Consolas"/>
                <a:ea typeface="맑은 고딕"/>
              </a:rPr>
              <a:t>7.7일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28232" y="464515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8232" y="464515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02920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5029200"/>
            <a:ext cx="54864" cy="45720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50292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3272" y="50292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퍼플 / USB→C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2112" y="50292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180° Cable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53712" y="502920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36 / 316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05272" y="502920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6D"/>
                </a:solidFill>
                <a:latin typeface="Consolas"/>
                <a:ea typeface="맑은 고딕"/>
              </a:rPr>
              <a:t>8.8일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28232" y="514807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28232" y="514807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4D6D"/>
                </a:solidFill>
                <a:latin typeface="Consolas"/>
                <a:ea typeface="맑은 고딕"/>
              </a:rPr>
              <a:t>긴급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" y="553212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48640" y="5532120"/>
            <a:ext cx="54864" cy="457200"/>
          </a:xfrm>
          <a:prstGeom prst="rect">
            <a:avLst/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3232" y="553212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 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3272" y="55321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민트 / USB→8pin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2112" y="55321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180° Cable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53712" y="55321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18 / 190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05272" y="553212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B153"/>
                </a:solidFill>
                <a:latin typeface="Consolas"/>
                <a:ea typeface="맑은 고딕"/>
              </a:rPr>
              <a:t>10.6일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28232" y="565099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B1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28232" y="565099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B153"/>
                </a:solidFill>
                <a:latin typeface="Consolas"/>
                <a:ea typeface="맑은 고딕"/>
              </a:rPr>
              <a:t>주의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48640" y="6035040"/>
            <a:ext cx="7040880" cy="457200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48640" y="6035040"/>
            <a:ext cx="54864" cy="457200"/>
          </a:xfrm>
          <a:prstGeom prst="rect">
            <a:avLst/>
          </a:prstGeom>
          <a:solidFill>
            <a:srgbClr val="FFB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603504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A6482"/>
                </a:solidFill>
                <a:latin typeface="Consolas"/>
                <a:ea typeface="맑은 고딕"/>
              </a:rPr>
              <a:t>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3272" y="60350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오렌지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82112" y="603504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Consolas"/>
                <a:ea typeface="맑은 고딕"/>
              </a:rPr>
              <a:t>Padded Color Pouch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53712" y="603504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8C96B4"/>
                </a:solidFill>
                <a:latin typeface="Consolas"/>
                <a:ea typeface="맑은 고딕"/>
              </a:rPr>
              <a:t>2 / 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05272" y="6035040"/>
            <a:ext cx="777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B153"/>
                </a:solidFill>
                <a:latin typeface="Consolas"/>
                <a:ea typeface="맑은 고딕"/>
              </a:rPr>
              <a:t>12.0일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28232" y="6153912"/>
            <a:ext cx="457200" cy="219456"/>
          </a:xfrm>
          <a:prstGeom prst="roundRect">
            <a:avLst>
              <a:gd name="adj" fmla="val 40000"/>
            </a:avLst>
          </a:prstGeom>
          <a:solidFill>
            <a:srgbClr val="0A0E1F"/>
          </a:solidFill>
          <a:ln w="9525">
            <a:solidFill>
              <a:srgbClr val="FFB1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28232" y="615391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B153"/>
                </a:solidFill>
                <a:latin typeface="Consolas"/>
                <a:ea typeface="맑은 고딕"/>
              </a:rPr>
              <a:t>주의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772400" y="1508760"/>
            <a:ext cx="3867912" cy="493776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 w="15875">
            <a:solidFill>
              <a:srgbClr val="FF4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72400" y="1508760"/>
            <a:ext cx="54864" cy="493776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28432" y="1709928"/>
            <a:ext cx="3410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4D6D"/>
                </a:solidFill>
                <a:latin typeface="Consolas"/>
                <a:ea typeface="맑은 고딕"/>
              </a:rPr>
              <a:t>오늘의 액션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28432" y="228600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4D6D"/>
                </a:solidFill>
                <a:latin typeface="Consolas"/>
                <a:ea typeface="맑은 고딕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30768" y="2286000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180° Cable · 블루 / USB→C 즉시 발주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30768" y="2633472"/>
            <a:ext cx="2999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Malgun Gothic"/>
                <a:ea typeface="맑은 고딕"/>
              </a:rPr>
              <a:t>커버 0.83일 · 단일 색상 결품 임박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028432" y="3127248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4D6D"/>
                </a:solidFill>
                <a:latin typeface="Consolas"/>
                <a:ea typeface="맑은 고딕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30768" y="3127248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180° Cable · 블루 / C→C 추가 발주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30768" y="3474720"/>
            <a:ext cx="2999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Malgun Gothic"/>
                <a:ea typeface="맑은 고딕"/>
              </a:rPr>
              <a:t>커버 3.4일 · 베스트 SKU 동시 결품 위험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28432" y="3968496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4D6D"/>
                </a:solidFill>
                <a:latin typeface="Consolas"/>
                <a:ea typeface="맑은 고딕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430768" y="3968496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180° Cable · 옐로우 / USB→C 발주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30768" y="4315968"/>
            <a:ext cx="2999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Malgun Gothic"/>
                <a:ea typeface="맑은 고딕"/>
              </a:rPr>
              <a:t>커버 3.4일 · USB→C 라인 전반 점검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28432" y="4809744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4D6D"/>
                </a:solidFill>
                <a:latin typeface="Consolas"/>
                <a:ea typeface="맑은 고딕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30768" y="4809744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Cloud Grip Brush · 스카이블루 발주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30768" y="5157216"/>
            <a:ext cx="2999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Malgun Gothic"/>
                <a:ea typeface="맑은 고딕"/>
              </a:rPr>
              <a:t>커버 7.7일 · 단가 낮으나 OOS 임박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28432" y="5650992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4D6D"/>
                </a:solidFill>
                <a:latin typeface="Consolas"/>
                <a:ea typeface="맑은 고딕"/>
              </a:rP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30768" y="5650992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6EAF5"/>
                </a:solidFill>
                <a:latin typeface="Malgun Gothic"/>
                <a:ea typeface="맑은 고딕"/>
              </a:rPr>
              <a:t>USB→C 라인 안전재고 재산정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30768" y="5998464"/>
            <a:ext cx="2999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C96B4"/>
                </a:solidFill>
                <a:latin typeface="Malgun Gothic"/>
                <a:ea typeface="맑은 고딕"/>
              </a:rPr>
              <a:t>USB→C 7개 색상 모두 30일 미만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8640" y="6565392"/>
            <a:ext cx="11091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A6482"/>
                </a:solidFill>
                <a:latin typeface="Malgun Gothic"/>
                <a:ea typeface="맑은 고딕"/>
              </a:rPr>
              <a:t>커버일수 = 남은재고 ÷ 실시간 결제완료 · 임계: &lt;10일 긴급, 10~30일 주의, 30일+ 안전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